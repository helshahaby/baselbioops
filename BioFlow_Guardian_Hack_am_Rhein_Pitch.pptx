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4458c08f3d4638" /><Relationship Type="http://schemas.openxmlformats.org/officeDocument/2006/relationships/extended-properties" Target="/docProps/app.xml" Id="R3fadaccbc30c4b88" /><Relationship Type="http://schemas.openxmlformats.org/officeDocument/2006/relationships/officeDocument" Target="/ppt/presentation.xml" Id="R1c1d64d754fb47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527ab667444728"/>
  </p:sldMasterIdLst>
  <p:notesMasterIdLst>
    <p:notesMasterId xmlns:r="http://schemas.openxmlformats.org/officeDocument/2006/relationships" r:id="Rffc21776ca1949ec"/>
  </p:notesMasterIdLst>
  <p:sldIdLst>
    <p:sldId xmlns:r="http://schemas.openxmlformats.org/officeDocument/2006/relationships" id="256" r:id="R387bb63f37f14428"/>
    <p:sldId xmlns:r="http://schemas.openxmlformats.org/officeDocument/2006/relationships" id="257" r:id="R876a64d0667d455f"/>
    <p:sldId xmlns:r="http://schemas.openxmlformats.org/officeDocument/2006/relationships" id="258" r:id="R58da15e682bf42e4"/>
    <p:sldId xmlns:r="http://schemas.openxmlformats.org/officeDocument/2006/relationships" id="259" r:id="Rd2f99f1d5ab444a6"/>
    <p:sldId xmlns:r="http://schemas.openxmlformats.org/officeDocument/2006/relationships" id="260" r:id="Rc114b2dc23ae43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8f291cf09341a5" /><Relationship Type="http://schemas.openxmlformats.org/officeDocument/2006/relationships/slideMaster" Target="/ppt/slideMasters/slideMaster1.xml" Id="Rfd527ab667444728" /><Relationship Type="http://schemas.openxmlformats.org/officeDocument/2006/relationships/notesMaster" Target="/ppt/notesMasters/notesMaster1.xml" Id="Rffc21776ca1949ec" /><Relationship Type="http://schemas.openxmlformats.org/officeDocument/2006/relationships/presProps" Target="/ppt/presProps.xml" Id="Rd20d5e5621fa4bbd" /><Relationship Type="http://schemas.openxmlformats.org/officeDocument/2006/relationships/tableStyles" Target="/ppt/tableStyles.xml" Id="R85298116fe0d4ea6" /><Relationship Type="http://schemas.openxmlformats.org/officeDocument/2006/relationships/slide" Target="/ppt/slides/slide1.xml" Id="R387bb63f37f14428" /><Relationship Type="http://schemas.openxmlformats.org/officeDocument/2006/relationships/slide" Target="/ppt/slides/slide2.xml" Id="R876a64d0667d455f" /><Relationship Type="http://schemas.openxmlformats.org/officeDocument/2006/relationships/slide" Target="/ppt/slides/slide3.xml" Id="R58da15e682bf42e4" /><Relationship Type="http://schemas.openxmlformats.org/officeDocument/2006/relationships/slide" Target="/ppt/slides/slide4.xml" Id="Rd2f99f1d5ab444a6" /><Relationship Type="http://schemas.openxmlformats.org/officeDocument/2006/relationships/slide" Target="/ppt/slides/slide5.xml" Id="Rc114b2dc23ae43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82220f53ff49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2556e258364f3a" /><Relationship Type="http://schemas.openxmlformats.org/officeDocument/2006/relationships/notesMaster" Target="/ppt/notesMasters/notesMaster1.xml" Id="R2b08ea9f39dc43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a8e84e9ad6478f" /><Relationship Type="http://schemas.openxmlformats.org/officeDocument/2006/relationships/notesMaster" Target="/ppt/notesMasters/notesMaster1.xml" Id="R1d8b8251d62745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7d6e5f3dfa4fc1" /><Relationship Type="http://schemas.openxmlformats.org/officeDocument/2006/relationships/notesMaster" Target="/ppt/notesMasters/notesMaster1.xml" Id="R9fc0f024639a46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1c93dbd238449a" /><Relationship Type="http://schemas.openxmlformats.org/officeDocument/2006/relationships/notesMaster" Target="/ppt/notesMasters/notesMaster1.xml" Id="R685690a899cb42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73499e80724c4e" /><Relationship Type="http://schemas.openxmlformats.org/officeDocument/2006/relationships/notesMaster" Target="/ppt/notesMasters/notesMaster1.xml" Id="R4c0dd5371dd543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cover. No external image used. Content prepared from the Hack am Rhein challenge brief and listed open-data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based on challenge scenario and public data resources: Basel Rhine, traffic counts, MeteoSwiss weather, and WHO cold-chain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list for the MVP. Links are included in the README and project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framed as expected prototype value, not measured operational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7e21b11f84b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b668652c943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75f400bd741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d35f5f08a45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a628140b8b40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7f2c2a34946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51C126B-0AAB-46B8-B13F-0736625E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9FFA99-D7D4-4BDC-84F7-08933FF83D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703AC09-922D-41C2-A636-7A382D745B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413C424-8821-4CAE-B62B-44B7EC1B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D5BEC0F-9576-48AD-A469-20F0086525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09FB17A-F876-446C-ADCA-9022C549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ABE0B3-CD7B-4569-A069-DB530DEE91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B7E3F98-8902-46B4-B1B5-28170F80C9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3D5DE98-881C-4236-BE72-34DFAF9A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3B930D-32D3-4A92-8E55-DAB5AC569C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E10EB1-D58B-46A5-B8DC-A551EEF6AF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4FC7763-7600-48F4-8D99-ED60FB425C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04356B3-F33C-41F5-9AF0-A91FD45B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A70F7-F4B9-4888-B208-2AD9C7C44B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C8BCE8-60E3-4238-BCEE-2EF717B4AD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24153bc32a4327" /><Relationship Type="http://schemas.openxmlformats.org/officeDocument/2006/relationships/slideLayout" Target="/ppt/slideLayouts/slideLayout1.xml" Id="R77b20879be434976" /><Relationship Type="http://schemas.openxmlformats.org/officeDocument/2006/relationships/slideLayout" Target="/ppt/slideLayouts/slideLayout2.xml" Id="Rcb2e8dc0ded04ce2" /><Relationship Type="http://schemas.openxmlformats.org/officeDocument/2006/relationships/slideLayout" Target="/ppt/slideLayouts/slideLayout3.xml" Id="Re80677f275cd4671" /><Relationship Type="http://schemas.openxmlformats.org/officeDocument/2006/relationships/slideLayout" Target="/ppt/slideLayouts/slideLayout4.xml" Id="R9f4d453ef226488d" /><Relationship Type="http://schemas.openxmlformats.org/officeDocument/2006/relationships/slideLayout" Target="/ppt/slideLayouts/slideLayout5.xml" Id="R365cccec0c6a4efb" /><Relationship Type="http://schemas.openxmlformats.org/officeDocument/2006/relationships/slideLayout" Target="/ppt/slideLayouts/slideLayout6.xml" Id="Re9dde4514df74b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b20879be434976"/>
    <p:sldLayoutId xmlns:r="http://schemas.openxmlformats.org/officeDocument/2006/relationships" id="2147483650" r:id="Rcb2e8dc0ded04ce2"/>
    <p:sldLayoutId xmlns:r="http://schemas.openxmlformats.org/officeDocument/2006/relationships" id="2147483651" r:id="Re80677f275cd4671"/>
    <p:sldLayoutId xmlns:r="http://schemas.openxmlformats.org/officeDocument/2006/relationships" id="2147483652" r:id="R9f4d453ef226488d"/>
    <p:sldLayoutId xmlns:r="http://schemas.openxmlformats.org/officeDocument/2006/relationships" id="2147483653" r:id="R365cccec0c6a4efb"/>
    <p:sldLayoutId xmlns:r="http://schemas.openxmlformats.org/officeDocument/2006/relationships" id="2147483654" r:id="Re9dde4514df74b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0a3587ccb44df6" /><Relationship Type="http://schemas.openxmlformats.org/officeDocument/2006/relationships/notesSlide" Target="/ppt/notesSlides/notesSlide1.xml" Id="R3bd9c27f480a4d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2382b468bf4cd2" /><Relationship Type="http://schemas.openxmlformats.org/officeDocument/2006/relationships/notesSlide" Target="/ppt/notesSlides/notesSlide2.xml" Id="Rd5d8ce7ef3b843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5be9f277c14ba7" /><Relationship Type="http://schemas.openxmlformats.org/officeDocument/2006/relationships/notesSlide" Target="/ppt/notesSlides/notesSlide3.xml" Id="Racf4b09b45644e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f0be67322a4f39" /><Relationship Type="http://schemas.openxmlformats.org/officeDocument/2006/relationships/notesSlide" Target="/ppt/notesSlides/notesSlide4.xml" Id="R49f81a19a3254f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87821dac0244cf" /><Relationship Type="http://schemas.openxmlformats.org/officeDocument/2006/relationships/notesSlide" Target="/ppt/notesSlides/notesSlide5.xml" Id="R80b0be18059a45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EBF35-F383-4D73-8EFC-654B9B4F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BioFlow Guardian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8367C-00F4-47A9-BB77-2884856A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Open data to manufacturing action for Basel biopharma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B9103-45F3-4674-92BB-0984EE34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Hossam Elshahaby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B66E3-9970-446D-8737-243D75EF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Hack am Rhein Hackathon</a:t>
            </a:r>
          </a:p>
          <a:p xmlns:a="http://schemas.openxmlformats.org/drawingml/2006/main">
            <a:pPr>
              <a:defRPr sz="1500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3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24855-B13C-4255-B298-C520F5BD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228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Buffer</a:t>
            </a:r>
          </a:p>
          <a:p xmlns:a="http://schemas.openxmlformats.org/drawingml/2006/main">
            <a:pPr>
              <a:defRPr sz="217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Expedite</a:t>
            </a:r>
          </a:p>
          <a:p xmlns:a="http://schemas.openxmlformats.org/drawingml/2006/main">
            <a:pPr>
              <a:defRPr sz="217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Reroute</a:t>
            </a:r>
          </a:p>
          <a:p xmlns:a="http://schemas.openxmlformats.org/drawingml/2006/main">
            <a:pPr>
              <a:defRPr sz="217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Quarantine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69A3F-1CCC-469A-A61D-512574A9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071"/>
                </a:solidFill>
                <a:latin typeface="Aptos"/>
                <a:ea typeface="Aptos"/>
                <a:cs typeface="Aptos"/>
              </a:rPr>
              <a:t>Challenge 4: From a Rhine Signal to Action</a:t>
            </a:r>
          </a:p>
        </p:txBody>
      </p:sp>
    </p:spTree>
    <p:extLst>
      <p:ext uri="{BB962C8B-B14F-4D97-AF65-F5344CB8AC3E}">
        <p14:creationId xmlns:p14="http://schemas.microsoft.com/office/powerpoint/2010/main" val="6545575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111BB-49A9-419E-AE47-5DAED33D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306F5-610B-4891-B2C8-9CE0387C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Hack am Rhein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C1AAC-FBDD-4732-AA6C-21D27D57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Basel biopharma factories depend on critical refrigerated materials, but external disruption signals sit outside the factory decision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BCB01-8F05-4439-875C-59E3D1D8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9715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Rhine conditions can affect logistics reliability</a:t>
            </a:r>
          </a:p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Traffic delays can increase time outside controlled storage</a:t>
            </a:r>
          </a:p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Heat and storms increase cold-chain risk</a:t>
            </a:r>
          </a:p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Operators still need one clear action for the material</a:t>
            </a:r>
          </a:p>
        </p:txBody>
      </p:sp>
    </p:spTree>
    <p:extLst>
      <p:ext uri="{BB962C8B-B14F-4D97-AF65-F5344CB8AC3E}">
        <p14:creationId xmlns:p14="http://schemas.microsoft.com/office/powerpoint/2010/main" val="1812220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62677-BAB5-4213-8A10-0EC06176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Solution and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763B3-3F27-4144-8DDA-AD083665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Hack am Rhein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B34BE-32C1-4C10-BEC6-429BF479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BioFlow Guardian turns public disruption data into an operator decision: Buffer, Expedite, Reroute, or Quarantine.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25965-A20C-4215-BD02-6ABFD73E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81300"/>
            <a:ext cx="9906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Connects Rhine level, traffic counts, weather, and cold-chain rules</a:t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Calculates a manufacturing risk score from 0 to 100</a:t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Explains why the action changed</a:t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Replays normal day, heat delay, Rhine disruption, and combined crisis scenarios</a:t>
            </a:r>
          </a:p>
        </p:txBody>
      </p:sp>
    </p:spTree>
    <p:extLst>
      <p:ext uri="{BB962C8B-B14F-4D97-AF65-F5344CB8AC3E}">
        <p14:creationId xmlns:p14="http://schemas.microsoft.com/office/powerpoint/2010/main" val="14262326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306C4-7C89-4E6C-9961-F4E16119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349AA-011D-4451-8B1F-47AFAFD0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Hack am Rhein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FA456-F90A-4C31-9D1D-34882609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93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The dashboard helps manufacturing teams act before disruption reaches the production floor.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DB1F2-1B66-44FB-B85F-269FE789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76550"/>
            <a:ext cx="9906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Reduces avoidable production delays</a:t>
            </a:r>
          </a:p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Improves cold-chain risk awareness</a:t>
            </a:r>
          </a:p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Gives quality teams clearer quarantine triggers</a:t>
            </a:r>
          </a:p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Makes Basel public data useful for life-sciences resilience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3FE1A-E286-4928-98DD-FEE55E00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Demo moment: a refrigerated oncology reagent changes from Buffer to Reroute when heat, traffic, and Rhine risk rise together.</a:t>
            </a:r>
          </a:p>
        </p:txBody>
      </p:sp>
    </p:spTree>
    <p:extLst>
      <p:ext uri="{BB962C8B-B14F-4D97-AF65-F5344CB8AC3E}">
        <p14:creationId xmlns:p14="http://schemas.microsoft.com/office/powerpoint/2010/main" val="1240275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D4CF4-831A-433C-89FF-D9442B9A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54491-6DFC-49A7-8482-ED277111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3281E-8851-4ED5-9261-166203B2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7E3F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3F8"/>
                </a:solidFill>
                <a:latin typeface="Aptos"/>
                <a:ea typeface="Aptos"/>
                <a:cs typeface="Aptos"/>
              </a:rPr>
              <a:t>BioFlow Guardian</a:t>
            </a:r>
          </a:p>
          <a:p xmlns:a="http://schemas.openxmlformats.org/drawingml/2006/main">
            <a:pPr>
              <a:defRPr sz="1650" b="0">
                <a:solidFill>
                  <a:srgbClr val="D7E3F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3F8"/>
                </a:solidFill>
                <a:latin typeface="Aptos"/>
                <a:ea typeface="Aptos"/>
                <a:cs typeface="Aptos"/>
              </a:rPr>
              <a:t>Hossam Elshahaby</a:t>
            </a:r>
          </a:p>
          <a:p xmlns:a="http://schemas.openxmlformats.org/drawingml/2006/main">
            <a:pPr>
              <a:defRPr sz="1650" b="0">
                <a:solidFill>
                  <a:srgbClr val="D7E3F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3F8"/>
                </a:solidFill>
                <a:latin typeface="Aptos"/>
                <a:ea typeface="Aptos"/>
                <a:cs typeface="Aptos"/>
              </a:rPr>
              <a:t>Hack am Rhein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BC839-1B1D-482C-9F7D-F22BE201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data -&gt; risk score -&gt; factory action</a:t>
            </a:r>
          </a:p>
        </p:txBody>
      </p:sp>
    </p:spTree>
    <p:extLst>
      <p:ext uri="{BB962C8B-B14F-4D97-AF65-F5344CB8AC3E}">
        <p14:creationId xmlns:p14="http://schemas.microsoft.com/office/powerpoint/2010/main" val="71298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2026-10-03T15:26:04.8630000Z</dcterms:created>
  <dcterms:modified xsi:type="dcterms:W3CDTF">2026-10-03T15:26:04.8630000Z</dcterms:modified>
</coreProperties>
</file>